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4.xml" ContentType="application/vnd.openxmlformats-officedocument.drawingml.chart+xml"/>
  <Override PartName="/ppt/notesSlides/notesSlide8.xml" ContentType="application/vnd.openxmlformats-officedocument.presentationml.notes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notesSlides/notesSlide9.xml" ContentType="application/vnd.openxmlformats-officedocument.presentationml.notesSlide+xml"/>
  <Override PartName="/ppt/charts/chart7.xml" ContentType="application/vnd.openxmlformats-officedocument.drawingml.chart+xml"/>
  <Override PartName="/ppt/notesSlides/notesSlide10.xml" ContentType="application/vnd.openxmlformats-officedocument.presentationml.notesSlide+xml"/>
  <Override PartName="/ppt/charts/chart8.xml" ContentType="application/vnd.openxmlformats-officedocument.drawingml.chart+xml"/>
  <Override PartName="/ppt/notesSlides/notesSlide11.xml" ContentType="application/vnd.openxmlformats-officedocument.presentationml.notesSlide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notesSlides/notesSlide12.xml" ContentType="application/vnd.openxmlformats-officedocument.presentationml.notesSlide+xml"/>
  <Override PartName="/ppt/charts/chart11.xml" ContentType="application/vnd.openxmlformats-officedocument.drawingml.char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spPr>
            <a:solidFill>
              <a:srgbClr val="16A34A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13EF-492F-B4E7-C48FDC332DC4}"/>
              </c:ext>
            </c:extLst>
          </c:dPt>
          <c:dPt>
            <c:idx val="1"/>
            <c:invertIfNegative val="0"/>
            <c:bubble3D val="0"/>
            <c:spPr>
              <a:solidFill>
                <a:srgbClr val="DC262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13EF-492F-B4E7-C48FDC332DC4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Good (No Default)</c:v>
                </c:pt>
                <c:pt idx="1">
                  <c:v>Bad (Defaulted)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5355</c:v>
                </c:pt>
                <c:pt idx="1">
                  <c:v>5104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13EF-492F-B4E7-C48FDC332DC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Good</c:v>
                </c:pt>
              </c:strCache>
            </c:strRef>
          </c:tx>
          <c:spPr>
            <a:solidFill>
              <a:srgbClr val="16A34A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&lt;50</c:v>
                </c:pt>
                <c:pt idx="1">
                  <c:v>50-60</c:v>
                </c:pt>
                <c:pt idx="2">
                  <c:v>60-70</c:v>
                </c:pt>
                <c:pt idx="3">
                  <c:v>70-80</c:v>
                </c:pt>
                <c:pt idx="4">
                  <c:v>80+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</c:v>
                </c:pt>
                <c:pt idx="1">
                  <c:v>8</c:v>
                </c:pt>
                <c:pt idx="2">
                  <c:v>19</c:v>
                </c:pt>
                <c:pt idx="3">
                  <c:v>35</c:v>
                </c:pt>
                <c:pt idx="4">
                  <c:v>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139-4F37-97BC-F6B1ACE74C3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Bad</c:v>
                </c:pt>
              </c:strCache>
            </c:strRef>
          </c:tx>
          <c:spPr>
            <a:solidFill>
              <a:srgbClr val="DC2626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&lt;50</c:v>
                </c:pt>
                <c:pt idx="1">
                  <c:v>50-60</c:v>
                </c:pt>
                <c:pt idx="2">
                  <c:v>60-70</c:v>
                </c:pt>
                <c:pt idx="3">
                  <c:v>70-80</c:v>
                </c:pt>
                <c:pt idx="4">
                  <c:v>80+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22</c:v>
                </c:pt>
                <c:pt idx="1">
                  <c:v>28</c:v>
                </c:pt>
                <c:pt idx="2">
                  <c:v>26</c:v>
                </c:pt>
                <c:pt idx="3">
                  <c:v>16</c:v>
                </c:pt>
                <c:pt idx="4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139-4F37-97BC-F6B1ACE74C3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solidFill>
      <a:srgbClr val="F7F9FC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Good</c:v>
                </c:pt>
              </c:strCache>
            </c:strRef>
          </c:tx>
          <c:spPr>
            <a:solidFill>
              <a:srgbClr val="16A34A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4+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42</c:v>
                </c:pt>
                <c:pt idx="1">
                  <c:v>28</c:v>
                </c:pt>
                <c:pt idx="2">
                  <c:v>16</c:v>
                </c:pt>
                <c:pt idx="3">
                  <c:v>9</c:v>
                </c:pt>
                <c:pt idx="4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0FE-4214-8D76-A03DA9B54C4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Bad</c:v>
                </c:pt>
              </c:strCache>
            </c:strRef>
          </c:tx>
          <c:spPr>
            <a:solidFill>
              <a:srgbClr val="DC2626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4+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21</c:v>
                </c:pt>
                <c:pt idx="1">
                  <c:v>22</c:v>
                </c:pt>
                <c:pt idx="2">
                  <c:v>22</c:v>
                </c:pt>
                <c:pt idx="3">
                  <c:v>18</c:v>
                </c:pt>
                <c:pt idx="4">
                  <c:v>17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0FE-4214-8D76-A03DA9B54C4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solidFill>
      <a:srgbClr val="F7F9FC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GLM (AUC=0.79)</c:v>
                </c:pt>
              </c:strCache>
            </c:strRef>
          </c:tx>
          <c:spPr>
            <a:ln w="31750" cap="flat">
              <a:solidFill>
                <a:srgbClr val="1B3F8B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B3F8B"/>
              </a:solidFill>
              <a:ln w="9525" cap="flat">
                <a:solidFill>
                  <a:srgbClr val="1B3F8B"/>
                </a:solidFill>
                <a:prstDash val="solid"/>
                <a:round/>
              </a:ln>
              <a:effectLst/>
            </c:spPr>
          </c:marker>
          <c:cat>
            <c:strRef>
              <c:f>Sheet1!$A$2:$A$12</c:f>
              <c:strCache>
                <c:ptCount val="11"/>
                <c:pt idx="0">
                  <c:v>0.0</c:v>
                </c:pt>
                <c:pt idx="1">
                  <c:v>0.1</c:v>
                </c:pt>
                <c:pt idx="2">
                  <c:v>0.2</c:v>
                </c:pt>
                <c:pt idx="3">
                  <c:v>0.3</c:v>
                </c:pt>
                <c:pt idx="4">
                  <c:v>0.4</c:v>
                </c:pt>
                <c:pt idx="5">
                  <c:v>0.5</c:v>
                </c:pt>
                <c:pt idx="6">
                  <c:v>0.6</c:v>
                </c:pt>
                <c:pt idx="7">
                  <c:v>0.7</c:v>
                </c:pt>
                <c:pt idx="8">
                  <c:v>0.8</c:v>
                </c:pt>
                <c:pt idx="9">
                  <c:v>0.9</c:v>
                </c:pt>
                <c:pt idx="10">
                  <c:v>1.0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0</c:v>
                </c:pt>
                <c:pt idx="1">
                  <c:v>0.3</c:v>
                </c:pt>
                <c:pt idx="2">
                  <c:v>0.5</c:v>
                </c:pt>
                <c:pt idx="3">
                  <c:v>0.63</c:v>
                </c:pt>
                <c:pt idx="4">
                  <c:v>0.72</c:v>
                </c:pt>
                <c:pt idx="5">
                  <c:v>0.79</c:v>
                </c:pt>
                <c:pt idx="6">
                  <c:v>0.85</c:v>
                </c:pt>
                <c:pt idx="7">
                  <c:v>0.9</c:v>
                </c:pt>
                <c:pt idx="8">
                  <c:v>0.94</c:v>
                </c:pt>
                <c:pt idx="9">
                  <c:v>0.97</c:v>
                </c:pt>
                <c:pt idx="10">
                  <c:v>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B2F-47DB-80B7-96562A4D3E0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Random (AUC=0.50)</c:v>
                </c:pt>
              </c:strCache>
            </c:strRef>
          </c:tx>
          <c:spPr>
            <a:ln w="31750" cap="flat">
              <a:solidFill>
                <a:srgbClr val="AAAAAA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AAAAAA"/>
              </a:solidFill>
              <a:ln w="9525" cap="flat">
                <a:solidFill>
                  <a:srgbClr val="AAAAAA"/>
                </a:solidFill>
                <a:prstDash val="solid"/>
                <a:round/>
              </a:ln>
              <a:effectLst/>
            </c:spPr>
          </c:marker>
          <c:cat>
            <c:strRef>
              <c:f>Sheet1!$A$2:$A$12</c:f>
              <c:strCache>
                <c:ptCount val="11"/>
                <c:pt idx="0">
                  <c:v>0.0</c:v>
                </c:pt>
                <c:pt idx="1">
                  <c:v>0.1</c:v>
                </c:pt>
                <c:pt idx="2">
                  <c:v>0.2</c:v>
                </c:pt>
                <c:pt idx="3">
                  <c:v>0.3</c:v>
                </c:pt>
                <c:pt idx="4">
                  <c:v>0.4</c:v>
                </c:pt>
                <c:pt idx="5">
                  <c:v>0.5</c:v>
                </c:pt>
                <c:pt idx="6">
                  <c:v>0.6</c:v>
                </c:pt>
                <c:pt idx="7">
                  <c:v>0.7</c:v>
                </c:pt>
                <c:pt idx="8">
                  <c:v>0.8</c:v>
                </c:pt>
                <c:pt idx="9">
                  <c:v>0.9</c:v>
                </c:pt>
                <c:pt idx="10">
                  <c:v>1.0</c:v>
                </c:pt>
              </c:strCache>
            </c: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0</c:v>
                </c:pt>
                <c:pt idx="1">
                  <c:v>0.1</c:v>
                </c:pt>
                <c:pt idx="2">
                  <c:v>0.2</c:v>
                </c:pt>
                <c:pt idx="3">
                  <c:v>0.3</c:v>
                </c:pt>
                <c:pt idx="4">
                  <c:v>0.4</c:v>
                </c:pt>
                <c:pt idx="5">
                  <c:v>0.5</c:v>
                </c:pt>
                <c:pt idx="6">
                  <c:v>0.6</c:v>
                </c:pt>
                <c:pt idx="7">
                  <c:v>0.7</c:v>
                </c:pt>
                <c:pt idx="8">
                  <c:v>0.8</c:v>
                </c:pt>
                <c:pt idx="9">
                  <c:v>0.9</c:v>
                </c:pt>
                <c:pt idx="10">
                  <c:v>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B2F-47DB-80B7-96562A4D3E0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solidFill>
      <a:srgbClr val="F7F9FC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Log-Odds Effect</c:v>
                </c:pt>
              </c:strCache>
            </c:strRef>
          </c:tx>
          <c:spPr>
            <a:ln w="38100" cap="flat">
              <a:solidFill>
                <a:srgbClr val="2563A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563A8"/>
              </a:solidFill>
              <a:ln w="9525" cap="flat">
                <a:solidFill>
                  <a:srgbClr val="2563A8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40</c:v>
                </c:pt>
                <c:pt idx="1">
                  <c:v>50</c:v>
                </c:pt>
                <c:pt idx="2">
                  <c:v>60</c:v>
                </c:pt>
                <c:pt idx="3">
                  <c:v>70</c:v>
                </c:pt>
                <c:pt idx="4">
                  <c:v>80</c:v>
                </c:pt>
                <c:pt idx="5">
                  <c:v>90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2.8</c:v>
                </c:pt>
                <c:pt idx="1">
                  <c:v>1.9</c:v>
                </c:pt>
                <c:pt idx="2">
                  <c:v>0.8</c:v>
                </c:pt>
                <c:pt idx="3">
                  <c:v>-0.3</c:v>
                </c:pt>
                <c:pt idx="4">
                  <c:v>-1.4</c:v>
                </c:pt>
                <c:pt idx="5">
                  <c:v>-2.5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AC61-4BDF-BC6C-70CF686033F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Log-Odds Effect</c:v>
                </c:pt>
              </c:strCache>
            </c:strRef>
          </c:tx>
          <c:spPr>
            <a:ln w="38100" cap="flat">
              <a:solidFill>
                <a:srgbClr val="F5B800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F5B800"/>
              </a:solidFill>
              <a:ln w="9525" cap="flat">
                <a:solidFill>
                  <a:srgbClr val="F5B800"/>
                </a:solidFill>
                <a:prstDash val="solid"/>
                <a:round/>
              </a:ln>
              <a:effectLst/>
            </c:spPr>
          </c:marker>
          <c:cat>
            <c:strRef>
              <c:f>Sheet1!$A$2:$A$8</c:f>
              <c:strCache>
                <c:ptCount val="7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6+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</c:v>
                </c:pt>
                <c:pt idx="1">
                  <c:v>0.38</c:v>
                </c:pt>
                <c:pt idx="2">
                  <c:v>0.62</c:v>
                </c:pt>
                <c:pt idx="3">
                  <c:v>0.72</c:v>
                </c:pt>
                <c:pt idx="4">
                  <c:v>0.76</c:v>
                </c:pt>
                <c:pt idx="5">
                  <c:v>0.77</c:v>
                </c:pt>
                <c:pt idx="6">
                  <c:v>0.78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2DE9-451C-A819-B255FCCDB53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Q10 (High Risk)</c:v>
                </c:pt>
              </c:strCache>
            </c:strRef>
          </c:tx>
          <c:spPr>
            <a:solidFill>
              <a:srgbClr val="DC2626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PastDeliq
Count</c:v>
                </c:pt>
                <c:pt idx="1">
                  <c:v>NetRevolv
Burden</c:v>
                </c:pt>
                <c:pt idx="2">
                  <c:v>NumInq
Last6M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1.8</c:v>
                </c:pt>
                <c:pt idx="1">
                  <c:v>1.2</c:v>
                </c:pt>
                <c:pt idx="2">
                  <c:v>0.9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AC1-4305-B6C9-8926FC29D85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Q50 (Median)</c:v>
                </c:pt>
              </c:strCache>
            </c:strRef>
          </c:tx>
          <c:spPr>
            <a:solidFill>
              <a:srgbClr val="F5B800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PastDeliq
Count</c:v>
                </c:pt>
                <c:pt idx="1">
                  <c:v>NetRevolv
Burden</c:v>
                </c:pt>
                <c:pt idx="2">
                  <c:v>NumInq
Last6M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1.1000000000000001</c:v>
                </c:pt>
                <c:pt idx="1">
                  <c:v>0.8</c:v>
                </c:pt>
                <c:pt idx="2">
                  <c:v>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AC1-4305-B6C9-8926FC29D853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Q90 (Low Risk)</c:v>
                </c:pt>
              </c:strCache>
            </c:strRef>
          </c:tx>
          <c:spPr>
            <a:solidFill>
              <a:srgbClr val="16A34A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PastDeliq
Count</c:v>
                </c:pt>
                <c:pt idx="1">
                  <c:v>NetRevolv
Burden</c:v>
                </c:pt>
                <c:pt idx="2">
                  <c:v>NumInq
Last6M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0.5</c:v>
                </c:pt>
                <c:pt idx="1">
                  <c:v>0.4</c:v>
                </c:pt>
                <c:pt idx="2">
                  <c:v>0.2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1AC1-4305-B6C9-8926FC29D85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solidFill>
      <a:srgbClr val="F7F9FC"/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Mean |SHAP Value|</c:v>
                </c:pt>
              </c:strCache>
            </c:strRef>
          </c:tx>
          <c:spPr>
            <a:solidFill>
              <a:srgbClr val="4A1D96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ExternalRiskEstimate</c:v>
                </c:pt>
                <c:pt idx="1">
                  <c:v>NumInqLast6M</c:v>
                </c:pt>
                <c:pt idx="2">
                  <c:v>NetFracRevolvBurden</c:v>
                </c:pt>
                <c:pt idx="3">
                  <c:v>MSinceMostRecentDelq</c:v>
                </c:pt>
                <c:pt idx="4">
                  <c:v>NumRevolvTradesWBal</c:v>
                </c:pt>
                <c:pt idx="5">
                  <c:v>NumSatisfactoryTrades</c:v>
                </c:pt>
                <c:pt idx="6">
                  <c:v>AverageMInFile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0.42</c:v>
                </c:pt>
                <c:pt idx="1">
                  <c:v>0.21</c:v>
                </c:pt>
                <c:pt idx="2">
                  <c:v>0.18</c:v>
                </c:pt>
                <c:pt idx="3">
                  <c:v>0.15</c:v>
                </c:pt>
                <c:pt idx="4">
                  <c:v>0.12</c:v>
                </c:pt>
                <c:pt idx="5">
                  <c:v>0.09</c:v>
                </c:pt>
                <c:pt idx="6">
                  <c:v>7.0000000000000007E-2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6F4-49BA-BE6D-9EB6999980F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AUC</c:v>
                </c:pt>
              </c:strCache>
            </c:strRef>
          </c:tx>
          <c:spPr>
            <a:solidFill>
              <a:srgbClr val="1B3F8B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6AE3-42A3-B1B5-F8D6E087819C}"/>
              </c:ext>
            </c:extLst>
          </c:dPt>
          <c:dPt>
            <c:idx val="1"/>
            <c:invertIfNegative val="0"/>
            <c:bubble3D val="0"/>
            <c:spPr>
              <a:solidFill>
                <a:srgbClr val="2563A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6AE3-42A3-B1B5-F8D6E087819C}"/>
              </c:ext>
            </c:extLst>
          </c:dPt>
          <c:dPt>
            <c:idx val="2"/>
            <c:invertIfNegative val="0"/>
            <c:bubble3D val="0"/>
            <c:spPr>
              <a:solidFill>
                <a:srgbClr val="4A1D9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6AE3-42A3-B1B5-F8D6E087819C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GLM</c:v>
                </c:pt>
                <c:pt idx="1">
                  <c:v>GAM</c:v>
                </c:pt>
                <c:pt idx="2">
                  <c:v>Neural Net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0.79010000000000002</c:v>
                </c:pt>
                <c:pt idx="1">
                  <c:v>0.78639999999999999</c:v>
                </c:pt>
                <c:pt idx="2">
                  <c:v>0.79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6AE3-42A3-B1B5-F8D6E087819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8"/>
          <c:min val="0.77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7F9FC"/>
    </a:solidFill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Log-Loss</c:v>
                </c:pt>
              </c:strCache>
            </c:strRef>
          </c:tx>
          <c:spPr>
            <a:solidFill>
              <a:srgbClr val="1B3F8B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74F3-46E0-97D2-0A25F7FF12D8}"/>
              </c:ext>
            </c:extLst>
          </c:dPt>
          <c:dPt>
            <c:idx val="1"/>
            <c:invertIfNegative val="0"/>
            <c:bubble3D val="0"/>
            <c:spPr>
              <a:solidFill>
                <a:srgbClr val="2563A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74F3-46E0-97D2-0A25F7FF12D8}"/>
              </c:ext>
            </c:extLst>
          </c:dPt>
          <c:dPt>
            <c:idx val="2"/>
            <c:invertIfNegative val="0"/>
            <c:bubble3D val="0"/>
            <c:spPr>
              <a:solidFill>
                <a:srgbClr val="4A1D9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74F3-46E0-97D2-0A25F7FF12D8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GLM</c:v>
                </c:pt>
                <c:pt idx="1">
                  <c:v>GAM</c:v>
                </c:pt>
                <c:pt idx="2">
                  <c:v>Neural Net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0.5534</c:v>
                </c:pt>
                <c:pt idx="1">
                  <c:v>0.55940000000000001</c:v>
                </c:pt>
                <c:pt idx="2">
                  <c:v>0.55320000000000003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74F3-46E0-97D2-0A25F7FF12D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0.54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7F9FC"/>
    </a:solidFill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Perfect</c:v>
                </c:pt>
              </c:strCache>
            </c:strRef>
          </c:tx>
          <c:spPr>
            <a:ln w="31750" cap="flat">
              <a:solidFill>
                <a:srgbClr val="AAAAAA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AAAAAA"/>
              </a:solidFill>
              <a:ln w="9525" cap="flat">
                <a:solidFill>
                  <a:srgbClr val="AAAAAA"/>
                </a:solidFill>
                <a:prstDash val="solid"/>
                <a:round/>
              </a:ln>
              <a:effectLst/>
            </c:spPr>
          </c:marker>
          <c:cat>
            <c:strRef>
              <c:f>Sheet1!$A$2:$A$12</c:f>
              <c:strCache>
                <c:ptCount val="11"/>
                <c:pt idx="0">
                  <c:v>0.0</c:v>
                </c:pt>
                <c:pt idx="1">
                  <c:v>0.1</c:v>
                </c:pt>
                <c:pt idx="2">
                  <c:v>0.2</c:v>
                </c:pt>
                <c:pt idx="3">
                  <c:v>0.3</c:v>
                </c:pt>
                <c:pt idx="4">
                  <c:v>0.4</c:v>
                </c:pt>
                <c:pt idx="5">
                  <c:v>0.5</c:v>
                </c:pt>
                <c:pt idx="6">
                  <c:v>0.6</c:v>
                </c:pt>
                <c:pt idx="7">
                  <c:v>0.7</c:v>
                </c:pt>
                <c:pt idx="8">
                  <c:v>0.8</c:v>
                </c:pt>
                <c:pt idx="9">
                  <c:v>0.9</c:v>
                </c:pt>
                <c:pt idx="10">
                  <c:v>1.0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0</c:v>
                </c:pt>
                <c:pt idx="1">
                  <c:v>0.1</c:v>
                </c:pt>
                <c:pt idx="2">
                  <c:v>0.2</c:v>
                </c:pt>
                <c:pt idx="3">
                  <c:v>0.3</c:v>
                </c:pt>
                <c:pt idx="4">
                  <c:v>0.4</c:v>
                </c:pt>
                <c:pt idx="5">
                  <c:v>0.5</c:v>
                </c:pt>
                <c:pt idx="6">
                  <c:v>0.6</c:v>
                </c:pt>
                <c:pt idx="7">
                  <c:v>0.7</c:v>
                </c:pt>
                <c:pt idx="8">
                  <c:v>0.8</c:v>
                </c:pt>
                <c:pt idx="9">
                  <c:v>0.9</c:v>
                </c:pt>
                <c:pt idx="10">
                  <c:v>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5308-4EAE-83B8-827AA9EA34F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GLM</c:v>
                </c:pt>
              </c:strCache>
            </c:strRef>
          </c:tx>
          <c:spPr>
            <a:ln w="31750" cap="flat">
              <a:solidFill>
                <a:srgbClr val="1B3F8B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B3F8B"/>
              </a:solidFill>
              <a:ln w="9525" cap="flat">
                <a:solidFill>
                  <a:srgbClr val="1B3F8B"/>
                </a:solidFill>
                <a:prstDash val="solid"/>
                <a:round/>
              </a:ln>
              <a:effectLst/>
            </c:spPr>
          </c:marker>
          <c:cat>
            <c:strRef>
              <c:f>Sheet1!$A$2:$A$12</c:f>
              <c:strCache>
                <c:ptCount val="11"/>
                <c:pt idx="0">
                  <c:v>0.0</c:v>
                </c:pt>
                <c:pt idx="1">
                  <c:v>0.1</c:v>
                </c:pt>
                <c:pt idx="2">
                  <c:v>0.2</c:v>
                </c:pt>
                <c:pt idx="3">
                  <c:v>0.3</c:v>
                </c:pt>
                <c:pt idx="4">
                  <c:v>0.4</c:v>
                </c:pt>
                <c:pt idx="5">
                  <c:v>0.5</c:v>
                </c:pt>
                <c:pt idx="6">
                  <c:v>0.6</c:v>
                </c:pt>
                <c:pt idx="7">
                  <c:v>0.7</c:v>
                </c:pt>
                <c:pt idx="8">
                  <c:v>0.8</c:v>
                </c:pt>
                <c:pt idx="9">
                  <c:v>0.9</c:v>
                </c:pt>
                <c:pt idx="10">
                  <c:v>1.0</c:v>
                </c:pt>
              </c:strCache>
            </c: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0</c:v>
                </c:pt>
                <c:pt idx="1">
                  <c:v>0.09</c:v>
                </c:pt>
                <c:pt idx="2">
                  <c:v>0.19</c:v>
                </c:pt>
                <c:pt idx="3">
                  <c:v>0.31</c:v>
                </c:pt>
                <c:pt idx="4">
                  <c:v>0.41</c:v>
                </c:pt>
                <c:pt idx="5">
                  <c:v>0.52</c:v>
                </c:pt>
                <c:pt idx="6">
                  <c:v>0.62</c:v>
                </c:pt>
                <c:pt idx="7">
                  <c:v>0.72</c:v>
                </c:pt>
                <c:pt idx="8">
                  <c:v>0.81</c:v>
                </c:pt>
                <c:pt idx="9">
                  <c:v>0.89</c:v>
                </c:pt>
                <c:pt idx="10">
                  <c:v>0.97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5308-4EAE-83B8-827AA9EA34F7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GAM</c:v>
                </c:pt>
              </c:strCache>
            </c:strRef>
          </c:tx>
          <c:spPr>
            <a:ln w="31750" cap="flat">
              <a:solidFill>
                <a:srgbClr val="2563A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563A8"/>
              </a:solidFill>
              <a:ln w="9525" cap="flat">
                <a:solidFill>
                  <a:srgbClr val="2563A8"/>
                </a:solidFill>
                <a:prstDash val="solid"/>
                <a:round/>
              </a:ln>
              <a:effectLst/>
            </c:spPr>
          </c:marker>
          <c:cat>
            <c:strRef>
              <c:f>Sheet1!$A$2:$A$12</c:f>
              <c:strCache>
                <c:ptCount val="11"/>
                <c:pt idx="0">
                  <c:v>0.0</c:v>
                </c:pt>
                <c:pt idx="1">
                  <c:v>0.1</c:v>
                </c:pt>
                <c:pt idx="2">
                  <c:v>0.2</c:v>
                </c:pt>
                <c:pt idx="3">
                  <c:v>0.3</c:v>
                </c:pt>
                <c:pt idx="4">
                  <c:v>0.4</c:v>
                </c:pt>
                <c:pt idx="5">
                  <c:v>0.5</c:v>
                </c:pt>
                <c:pt idx="6">
                  <c:v>0.6</c:v>
                </c:pt>
                <c:pt idx="7">
                  <c:v>0.7</c:v>
                </c:pt>
                <c:pt idx="8">
                  <c:v>0.8</c:v>
                </c:pt>
                <c:pt idx="9">
                  <c:v>0.9</c:v>
                </c:pt>
                <c:pt idx="10">
                  <c:v>1.0</c:v>
                </c:pt>
              </c:strCache>
            </c:strRef>
          </c:cat>
          <c:val>
            <c:numRef>
              <c:f>Sheet1!$D$2:$D$12</c:f>
              <c:numCache>
                <c:formatCode>General</c:formatCode>
                <c:ptCount val="11"/>
                <c:pt idx="0">
                  <c:v>0</c:v>
                </c:pt>
                <c:pt idx="1">
                  <c:v>0.1</c:v>
                </c:pt>
                <c:pt idx="2">
                  <c:v>0.21</c:v>
                </c:pt>
                <c:pt idx="3">
                  <c:v>0.32</c:v>
                </c:pt>
                <c:pt idx="4">
                  <c:v>0.43</c:v>
                </c:pt>
                <c:pt idx="5">
                  <c:v>0.53</c:v>
                </c:pt>
                <c:pt idx="6">
                  <c:v>0.63</c:v>
                </c:pt>
                <c:pt idx="7">
                  <c:v>0.73</c:v>
                </c:pt>
                <c:pt idx="8">
                  <c:v>0.82</c:v>
                </c:pt>
                <c:pt idx="9">
                  <c:v>0.9</c:v>
                </c:pt>
                <c:pt idx="10">
                  <c:v>0.96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5308-4EAE-83B8-827AA9EA34F7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Neural Net</c:v>
                </c:pt>
              </c:strCache>
            </c:strRef>
          </c:tx>
          <c:spPr>
            <a:ln w="31750" cap="flat">
              <a:solidFill>
                <a:srgbClr val="4A1D9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4A1D96"/>
              </a:solidFill>
              <a:ln w="9525" cap="flat">
                <a:solidFill>
                  <a:srgbClr val="4A1D96"/>
                </a:solidFill>
                <a:prstDash val="solid"/>
                <a:round/>
              </a:ln>
              <a:effectLst/>
            </c:spPr>
          </c:marker>
          <c:cat>
            <c:strRef>
              <c:f>Sheet1!$A$2:$A$12</c:f>
              <c:strCache>
                <c:ptCount val="11"/>
                <c:pt idx="0">
                  <c:v>0.0</c:v>
                </c:pt>
                <c:pt idx="1">
                  <c:v>0.1</c:v>
                </c:pt>
                <c:pt idx="2">
                  <c:v>0.2</c:v>
                </c:pt>
                <c:pt idx="3">
                  <c:v>0.3</c:v>
                </c:pt>
                <c:pt idx="4">
                  <c:v>0.4</c:v>
                </c:pt>
                <c:pt idx="5">
                  <c:v>0.5</c:v>
                </c:pt>
                <c:pt idx="6">
                  <c:v>0.6</c:v>
                </c:pt>
                <c:pt idx="7">
                  <c:v>0.7</c:v>
                </c:pt>
                <c:pt idx="8">
                  <c:v>0.8</c:v>
                </c:pt>
                <c:pt idx="9">
                  <c:v>0.9</c:v>
                </c:pt>
                <c:pt idx="10">
                  <c:v>1.0</c:v>
                </c:pt>
              </c:strCache>
            </c:strRef>
          </c:cat>
          <c:val>
            <c:numRef>
              <c:f>Sheet1!$E$2:$E$12</c:f>
              <c:numCache>
                <c:formatCode>General</c:formatCode>
                <c:ptCount val="11"/>
                <c:pt idx="0">
                  <c:v>0</c:v>
                </c:pt>
                <c:pt idx="1">
                  <c:v>0.08</c:v>
                </c:pt>
                <c:pt idx="2">
                  <c:v>0.18</c:v>
                </c:pt>
                <c:pt idx="3">
                  <c:v>0.3</c:v>
                </c:pt>
                <c:pt idx="4">
                  <c:v>0.4</c:v>
                </c:pt>
                <c:pt idx="5">
                  <c:v>0.51</c:v>
                </c:pt>
                <c:pt idx="6">
                  <c:v>0.62</c:v>
                </c:pt>
                <c:pt idx="7">
                  <c:v>0.73</c:v>
                </c:pt>
                <c:pt idx="8">
                  <c:v>0.82</c:v>
                </c:pt>
                <c:pt idx="9">
                  <c:v>0.9</c:v>
                </c:pt>
                <c:pt idx="10">
                  <c:v>0.97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5308-4EAE-83B8-827AA9EA34F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612155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9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1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F5B800"/>
          </a:solidFill>
          <a:ln/>
        </p:spPr>
      </p:sp>
      <p:sp>
        <p:nvSpPr>
          <p:cNvPr id="3" name="Shape 1"/>
          <p:cNvSpPr/>
          <p:nvPr/>
        </p:nvSpPr>
        <p:spPr>
          <a:xfrm>
            <a:off x="411480" y="0"/>
            <a:ext cx="8732520" cy="73152"/>
          </a:xfrm>
          <a:prstGeom prst="rect">
            <a:avLst/>
          </a:prstGeom>
          <a:solidFill>
            <a:srgbClr val="F5B800"/>
          </a:solidFill>
          <a:ln/>
        </p:spPr>
      </p:sp>
      <p:sp>
        <p:nvSpPr>
          <p:cNvPr id="4" name="Shape 2"/>
          <p:cNvSpPr/>
          <p:nvPr/>
        </p:nvSpPr>
        <p:spPr>
          <a:xfrm>
            <a:off x="5943600" y="-1097280"/>
            <a:ext cx="4572000" cy="4572000"/>
          </a:xfrm>
          <a:prstGeom prst="ellipse">
            <a:avLst/>
          </a:prstGeom>
          <a:solidFill>
            <a:srgbClr val="1B3F8B">
              <a:alpha val="30000"/>
            </a:srgbClr>
          </a:solidFill>
          <a:ln w="12700">
            <a:solidFill>
              <a:srgbClr val="1B3F8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051560"/>
            <a:ext cx="2194560" cy="384048"/>
          </a:xfrm>
          <a:prstGeom prst="rect">
            <a:avLst/>
          </a:prstGeom>
          <a:solidFill>
            <a:srgbClr val="F5B800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05156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3E"/>
                </a:solidFill>
              </a:rPr>
              <a:t>FINANCIAL ANALYTICS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31520" y="1554480"/>
            <a:ext cx="77724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HELOC Credit Risk</a:t>
            </a:r>
            <a:endParaRPr lang="en-US" sz="5200" dirty="0"/>
          </a:p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731520" y="3246120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C8D9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Predicting Serious Delinquency Using Machine Learning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11480" y="4297680"/>
            <a:ext cx="8732520" cy="845820"/>
          </a:xfrm>
          <a:prstGeom prst="rect">
            <a:avLst/>
          </a:prstGeom>
          <a:solidFill>
            <a:srgbClr val="1B3F8B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432511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B800"/>
                </a:solidFill>
              </a:rPr>
              <a:t>Dataset: FICO HELOC Challenge  </a:t>
            </a:r>
            <a:r>
              <a:rPr lang="en-US" sz="1300" dirty="0">
                <a:solidFill>
                  <a:srgbClr val="C8D9F0"/>
                </a:solidFill>
              </a:rPr>
              <a:t>|  10,459 Applications  |  23 Features  |  Binary Classification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BD5E1"/>
                </a:solidFill>
              </a:rPr>
              <a:t>MS Financial Mathematics  •  Venkata Sai Prasad Kancharana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514350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5B800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822960"/>
            <a:ext cx="2606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</a:t>
            </a:r>
            <a:endParaRPr lang="en-US" sz="2800" dirty="0"/>
          </a:p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154680" y="356616"/>
            <a:ext cx="411480" cy="393192"/>
          </a:xfrm>
          <a:prstGeom prst="ellipse">
            <a:avLst/>
          </a:prstGeom>
          <a:solidFill>
            <a:srgbClr val="F5B800"/>
          </a:solidFill>
          <a:ln/>
        </p:spPr>
      </p:sp>
      <p:sp>
        <p:nvSpPr>
          <p:cNvPr id="7" name="Text 5"/>
          <p:cNvSpPr/>
          <p:nvPr/>
        </p:nvSpPr>
        <p:spPr>
          <a:xfrm>
            <a:off x="3154680" y="3474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01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611880" y="347472"/>
            <a:ext cx="5349240" cy="438912"/>
          </a:xfrm>
          <a:prstGeom prst="rect">
            <a:avLst/>
          </a:prstGeom>
          <a:solidFill>
            <a:srgbClr val="EDF2FA"/>
          </a:solidFill>
          <a:ln/>
        </p:spPr>
      </p:sp>
      <p:sp>
        <p:nvSpPr>
          <p:cNvPr id="9" name="Text 7"/>
          <p:cNvSpPr/>
          <p:nvPr/>
        </p:nvSpPr>
        <p:spPr>
          <a:xfrm>
            <a:off x="3703320" y="384048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</a:rPr>
              <a:t>Problem &amp; Business Context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092440" y="384048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</a:rPr>
              <a:t>2 min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154680" y="873252"/>
            <a:ext cx="411480" cy="393192"/>
          </a:xfrm>
          <a:prstGeom prst="ellipse">
            <a:avLst/>
          </a:prstGeom>
          <a:solidFill>
            <a:srgbClr val="2563A8"/>
          </a:solidFill>
          <a:ln/>
        </p:spPr>
      </p:sp>
      <p:sp>
        <p:nvSpPr>
          <p:cNvPr id="12" name="Text 10"/>
          <p:cNvSpPr/>
          <p:nvPr/>
        </p:nvSpPr>
        <p:spPr>
          <a:xfrm>
            <a:off x="3154680" y="8641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703320" y="900684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</a:rPr>
              <a:t>Dataset &amp; Exploratory Analysis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8092440" y="900684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</a:rPr>
              <a:t>3 min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154680" y="1389888"/>
            <a:ext cx="411480" cy="393192"/>
          </a:xfrm>
          <a:prstGeom prst="ellipse">
            <a:avLst/>
          </a:prstGeom>
          <a:solidFill>
            <a:srgbClr val="F5B800"/>
          </a:solidFill>
          <a:ln/>
        </p:spPr>
      </p:sp>
      <p:sp>
        <p:nvSpPr>
          <p:cNvPr id="16" name="Text 14"/>
          <p:cNvSpPr/>
          <p:nvPr/>
        </p:nvSpPr>
        <p:spPr>
          <a:xfrm>
            <a:off x="3154680" y="138074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03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611880" y="1380744"/>
            <a:ext cx="5349240" cy="438912"/>
          </a:xfrm>
          <a:prstGeom prst="rect">
            <a:avLst/>
          </a:prstGeom>
          <a:solidFill>
            <a:srgbClr val="EDF2FA"/>
          </a:solidFill>
          <a:ln/>
        </p:spPr>
      </p:sp>
      <p:sp>
        <p:nvSpPr>
          <p:cNvPr id="18" name="Text 16"/>
          <p:cNvSpPr/>
          <p:nvPr/>
        </p:nvSpPr>
        <p:spPr>
          <a:xfrm>
            <a:off x="3703320" y="141732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</a:rPr>
              <a:t>Data Preprocessing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8092440" y="141732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</a:rPr>
              <a:t>2 min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154680" y="1906524"/>
            <a:ext cx="411480" cy="393192"/>
          </a:xfrm>
          <a:prstGeom prst="ellipse">
            <a:avLst/>
          </a:prstGeom>
          <a:solidFill>
            <a:srgbClr val="2563A8"/>
          </a:solidFill>
          <a:ln/>
        </p:spPr>
      </p:sp>
      <p:sp>
        <p:nvSpPr>
          <p:cNvPr id="21" name="Text 19"/>
          <p:cNvSpPr/>
          <p:nvPr/>
        </p:nvSpPr>
        <p:spPr>
          <a:xfrm>
            <a:off x="3154680" y="18973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04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703320" y="1933956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</a:rPr>
              <a:t>Model 1 — Logistic Regression (GLM)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8092440" y="1933956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</a:rPr>
              <a:t>3 min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154680" y="2423160"/>
            <a:ext cx="411480" cy="393192"/>
          </a:xfrm>
          <a:prstGeom prst="ellipse">
            <a:avLst/>
          </a:prstGeom>
          <a:solidFill>
            <a:srgbClr val="F5B800"/>
          </a:solidFill>
          <a:ln/>
        </p:spPr>
      </p:sp>
      <p:sp>
        <p:nvSpPr>
          <p:cNvPr id="25" name="Text 23"/>
          <p:cNvSpPr/>
          <p:nvPr/>
        </p:nvSpPr>
        <p:spPr>
          <a:xfrm>
            <a:off x="3154680" y="241401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05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611880" y="2414016"/>
            <a:ext cx="5349240" cy="438912"/>
          </a:xfrm>
          <a:prstGeom prst="rect">
            <a:avLst/>
          </a:prstGeom>
          <a:solidFill>
            <a:srgbClr val="EDF2FA"/>
          </a:solidFill>
          <a:ln/>
        </p:spPr>
      </p:sp>
      <p:sp>
        <p:nvSpPr>
          <p:cNvPr id="27" name="Text 25"/>
          <p:cNvSpPr/>
          <p:nvPr/>
        </p:nvSpPr>
        <p:spPr>
          <a:xfrm>
            <a:off x="3703320" y="2450592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</a:rPr>
              <a:t>Model 2 — Generalized Additive Model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8092440" y="2450592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</a:rPr>
              <a:t>2 min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154680" y="2939796"/>
            <a:ext cx="411480" cy="393192"/>
          </a:xfrm>
          <a:prstGeom prst="ellipse">
            <a:avLst/>
          </a:prstGeom>
          <a:solidFill>
            <a:srgbClr val="2563A8"/>
          </a:solidFill>
          <a:ln/>
        </p:spPr>
      </p:sp>
      <p:sp>
        <p:nvSpPr>
          <p:cNvPr id="30" name="Text 28"/>
          <p:cNvSpPr/>
          <p:nvPr/>
        </p:nvSpPr>
        <p:spPr>
          <a:xfrm>
            <a:off x="3154680" y="29306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06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703320" y="2967228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</a:rPr>
              <a:t>Model 3 — Quantile Regression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8092440" y="2967228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</a:rPr>
              <a:t>2 min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154680" y="3456432"/>
            <a:ext cx="411480" cy="393192"/>
          </a:xfrm>
          <a:prstGeom prst="ellipse">
            <a:avLst/>
          </a:prstGeom>
          <a:solidFill>
            <a:srgbClr val="F5B800"/>
          </a:solidFill>
          <a:ln/>
        </p:spPr>
      </p:sp>
      <p:sp>
        <p:nvSpPr>
          <p:cNvPr id="34" name="Text 32"/>
          <p:cNvSpPr/>
          <p:nvPr/>
        </p:nvSpPr>
        <p:spPr>
          <a:xfrm>
            <a:off x="3154680" y="34472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07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611880" y="3447288"/>
            <a:ext cx="5349240" cy="438912"/>
          </a:xfrm>
          <a:prstGeom prst="rect">
            <a:avLst/>
          </a:prstGeom>
          <a:solidFill>
            <a:srgbClr val="EDF2FA"/>
          </a:solidFill>
          <a:ln/>
        </p:spPr>
      </p:sp>
      <p:sp>
        <p:nvSpPr>
          <p:cNvPr id="36" name="Text 34"/>
          <p:cNvSpPr/>
          <p:nvPr/>
        </p:nvSpPr>
        <p:spPr>
          <a:xfrm>
            <a:off x="3703320" y="3483864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</a:rPr>
              <a:t>Model 4 — Neural Network + SHAP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8092440" y="3483864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</a:rPr>
              <a:t>3 min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154680" y="3973068"/>
            <a:ext cx="411480" cy="393192"/>
          </a:xfrm>
          <a:prstGeom prst="ellipse">
            <a:avLst/>
          </a:prstGeom>
          <a:solidFill>
            <a:srgbClr val="2563A8"/>
          </a:solidFill>
          <a:ln/>
        </p:spPr>
      </p:sp>
      <p:sp>
        <p:nvSpPr>
          <p:cNvPr id="39" name="Text 37"/>
          <p:cNvSpPr/>
          <p:nvPr/>
        </p:nvSpPr>
        <p:spPr>
          <a:xfrm>
            <a:off x="3154680" y="396392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08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703320" y="400050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</a:rPr>
              <a:t>Model Comparison &amp; Results</a:t>
            </a:r>
            <a:endParaRPr lang="en-US" sz="1250" dirty="0"/>
          </a:p>
        </p:txBody>
      </p:sp>
      <p:sp>
        <p:nvSpPr>
          <p:cNvPr id="41" name="Text 39"/>
          <p:cNvSpPr/>
          <p:nvPr/>
        </p:nvSpPr>
        <p:spPr>
          <a:xfrm>
            <a:off x="8092440" y="400050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</a:rPr>
              <a:t>2 min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3154680" y="4489704"/>
            <a:ext cx="411480" cy="393192"/>
          </a:xfrm>
          <a:prstGeom prst="ellipse">
            <a:avLst/>
          </a:prstGeom>
          <a:solidFill>
            <a:srgbClr val="F5B800"/>
          </a:solidFill>
          <a:ln/>
        </p:spPr>
      </p:sp>
      <p:sp>
        <p:nvSpPr>
          <p:cNvPr id="43" name="Text 41"/>
          <p:cNvSpPr/>
          <p:nvPr/>
        </p:nvSpPr>
        <p:spPr>
          <a:xfrm>
            <a:off x="3154680" y="44805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09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3611880" y="4480560"/>
            <a:ext cx="5349240" cy="438912"/>
          </a:xfrm>
          <a:prstGeom prst="rect">
            <a:avLst/>
          </a:prstGeom>
          <a:solidFill>
            <a:srgbClr val="EDF2FA"/>
          </a:solidFill>
          <a:ln/>
        </p:spPr>
      </p:sp>
      <p:sp>
        <p:nvSpPr>
          <p:cNvPr id="45" name="Text 43"/>
          <p:cNvSpPr/>
          <p:nvPr/>
        </p:nvSpPr>
        <p:spPr>
          <a:xfrm>
            <a:off x="3703320" y="4517136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</a:rPr>
              <a:t>Business Insights &amp; Recommendations</a:t>
            </a:r>
            <a:endParaRPr lang="en-US" sz="1250" dirty="0"/>
          </a:p>
        </p:txBody>
      </p:sp>
      <p:sp>
        <p:nvSpPr>
          <p:cNvPr id="46" name="Text 44"/>
          <p:cNvSpPr/>
          <p:nvPr/>
        </p:nvSpPr>
        <p:spPr>
          <a:xfrm>
            <a:off x="8092440" y="4517136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</a:rPr>
              <a:t>1 min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64008"/>
          </a:xfrm>
          <a:prstGeom prst="rect">
            <a:avLst/>
          </a:prstGeom>
          <a:solidFill>
            <a:srgbClr val="F5B8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&amp; BUSINESS CONTEXT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4023360" cy="3520440"/>
          </a:xfrm>
          <a:prstGeom prst="rect">
            <a:avLst/>
          </a:prstGeom>
          <a:solidFill>
            <a:srgbClr val="EDF2FA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234440"/>
            <a:ext cx="4023360" cy="502920"/>
          </a:xfrm>
          <a:prstGeom prst="rect">
            <a:avLst/>
          </a:prstGeom>
          <a:solidFill>
            <a:srgbClr val="1B3F8B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23444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What is a HELOC?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02920" y="1783080"/>
            <a:ext cx="3794760" cy="2880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</a:rPr>
              <a:t>Home Equity Line of Credit (HELOC)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</a:rPr>
              <a:t>
A revolving credit line secured against a home's equity — commonly used for renovations, debt consolidation, and large purchases.
</a:t>
            </a:r>
            <a:r>
              <a:rPr lang="en-US" sz="1250" b="1" dirty="0">
                <a:solidFill>
                  <a:srgbClr val="DC2626"/>
                </a:solidFill>
              </a:rPr>
              <a:t>The Risk: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</a:rPr>
              <a:t>Serious Delinquency = 90+ days past due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</a:rPr>
              <a:t>Accurate default prediction is critical for lenders to manage exposure and price risk appropriately.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663440" y="1234440"/>
            <a:ext cx="4114800" cy="3520440"/>
          </a:xfrm>
          <a:prstGeom prst="rect">
            <a:avLst/>
          </a:prstGeom>
          <a:solidFill>
            <a:srgbClr val="0D1B3E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00600" y="137160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B800"/>
                </a:solidFill>
              </a:rPr>
              <a:t>Why It Matters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800600" y="1920240"/>
            <a:ext cx="3749040" cy="640080"/>
          </a:xfrm>
          <a:prstGeom prst="rect">
            <a:avLst/>
          </a:prstGeom>
          <a:solidFill>
            <a:srgbClr val="1B3F8B"/>
          </a:solidFill>
          <a:ln/>
        </p:spPr>
      </p:sp>
      <p:sp>
        <p:nvSpPr>
          <p:cNvPr id="12" name="Text 10"/>
          <p:cNvSpPr/>
          <p:nvPr/>
        </p:nvSpPr>
        <p:spPr>
          <a:xfrm>
            <a:off x="4892040" y="196596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5B800"/>
                </a:solidFill>
              </a:rPr>
              <a:t>$500B+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355080" y="1993392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8D9F0"/>
                </a:solidFill>
              </a:rPr>
              <a:t>HELOC market size in the US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800600" y="2670048"/>
            <a:ext cx="3749040" cy="640080"/>
          </a:xfrm>
          <a:prstGeom prst="rect">
            <a:avLst/>
          </a:prstGeom>
          <a:solidFill>
            <a:srgbClr val="1B3F8B"/>
          </a:solidFill>
          <a:ln/>
        </p:spPr>
      </p:sp>
      <p:sp>
        <p:nvSpPr>
          <p:cNvPr id="15" name="Text 13"/>
          <p:cNvSpPr/>
          <p:nvPr/>
        </p:nvSpPr>
        <p:spPr>
          <a:xfrm>
            <a:off x="4892040" y="2715768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5B800"/>
                </a:solidFill>
              </a:rPr>
              <a:t>~25%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355080" y="2743200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8D9F0"/>
                </a:solidFill>
              </a:rPr>
              <a:t>Historical default rate (2008 crisis)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800600" y="3419856"/>
            <a:ext cx="3749040" cy="640080"/>
          </a:xfrm>
          <a:prstGeom prst="rect">
            <a:avLst/>
          </a:prstGeom>
          <a:solidFill>
            <a:srgbClr val="1B3F8B"/>
          </a:solidFill>
          <a:ln/>
        </p:spPr>
      </p:sp>
      <p:sp>
        <p:nvSpPr>
          <p:cNvPr id="18" name="Text 16"/>
          <p:cNvSpPr/>
          <p:nvPr/>
        </p:nvSpPr>
        <p:spPr>
          <a:xfrm>
            <a:off x="4892040" y="3465576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5B800"/>
                </a:solidFill>
              </a:rPr>
              <a:t>1 in 5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355080" y="3493008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8D9F0"/>
                </a:solidFill>
              </a:rPr>
              <a:t>Applicants flagged as high-risk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800600" y="4169664"/>
            <a:ext cx="3749040" cy="640080"/>
          </a:xfrm>
          <a:prstGeom prst="rect">
            <a:avLst/>
          </a:prstGeom>
          <a:solidFill>
            <a:srgbClr val="1B3F8B"/>
          </a:solidFill>
          <a:ln/>
        </p:spPr>
      </p:sp>
      <p:sp>
        <p:nvSpPr>
          <p:cNvPr id="21" name="Text 19"/>
          <p:cNvSpPr/>
          <p:nvPr/>
        </p:nvSpPr>
        <p:spPr>
          <a:xfrm>
            <a:off x="4892040" y="4215384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5B800"/>
                </a:solidFill>
              </a:rPr>
              <a:t>AUC 0.79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355080" y="4242816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8D9F0"/>
                </a:solidFill>
              </a:rPr>
              <a:t>Achieved by our best models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F5B800"/>
          </a:solidFill>
          <a:ln/>
        </p:spPr>
      </p:sp>
      <p:sp>
        <p:nvSpPr>
          <p:cNvPr id="24" name="Text 22"/>
          <p:cNvSpPr/>
          <p:nvPr/>
        </p:nvSpPr>
        <p:spPr>
          <a:xfrm>
            <a:off x="365760" y="4773168"/>
            <a:ext cx="8412480" cy="3520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</a:rPr>
              <a:t>Goal: Build interpretable, accurate models to predict HELOC default — balancing predictive power with regulatory transparency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64008"/>
          </a:xfrm>
          <a:prstGeom prst="rect">
            <a:avLst/>
          </a:prstGeom>
          <a:solidFill>
            <a:srgbClr val="F5B8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DATASET OVERVIEW — FICO HELOC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170432"/>
            <a:ext cx="1965960" cy="1170432"/>
          </a:xfrm>
          <a:prstGeom prst="rect">
            <a:avLst/>
          </a:prstGeom>
          <a:solidFill>
            <a:srgbClr val="0D1B3E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207008"/>
            <a:ext cx="1874520" cy="65836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</a:rPr>
              <a:t>10,459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365760" y="1865376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8D9F0"/>
                </a:solidFill>
              </a:rPr>
              <a:t>Total Applications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68880" y="1170432"/>
            <a:ext cx="1965960" cy="1170432"/>
          </a:xfrm>
          <a:prstGeom prst="rect">
            <a:avLst/>
          </a:prstGeom>
          <a:solidFill>
            <a:srgbClr val="0D1B3E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514600" y="1207008"/>
            <a:ext cx="1874520" cy="65836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</a:rPr>
              <a:t>23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2514600" y="1865376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8D9F0"/>
                </a:solidFill>
              </a:rPr>
              <a:t>Feature Variables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17720" y="1170432"/>
            <a:ext cx="1965960" cy="1170432"/>
          </a:xfrm>
          <a:prstGeom prst="rect">
            <a:avLst/>
          </a:prstGeom>
          <a:solidFill>
            <a:srgbClr val="16A34A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663440" y="1207008"/>
            <a:ext cx="1874520" cy="65836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</a:rPr>
              <a:t>51.2%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4663440" y="1865376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8D9F0"/>
                </a:solidFill>
              </a:rPr>
              <a:t>Good (No Default)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766560" y="1170432"/>
            <a:ext cx="1965960" cy="1170432"/>
          </a:xfrm>
          <a:prstGeom prst="rect">
            <a:avLst/>
          </a:prstGeom>
          <a:solidFill>
            <a:srgbClr val="DC2626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812280" y="1207008"/>
            <a:ext cx="1874520" cy="65836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</a:rPr>
              <a:t>48.8%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6812280" y="1865376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8D9F0"/>
                </a:solidFill>
              </a:rPr>
              <a:t>Bad (Defaulted)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2560320"/>
            <a:ext cx="4114800" cy="2331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2423160"/>
            <a:ext cx="4114800" cy="475488"/>
          </a:xfrm>
          <a:prstGeom prst="rect">
            <a:avLst/>
          </a:prstGeom>
          <a:solidFill>
            <a:srgbClr val="1B3F8B"/>
          </a:solidFill>
          <a:ln/>
        </p:spPr>
      </p:sp>
      <p:sp>
        <p:nvSpPr>
          <p:cNvPr id="19" name="Text 17"/>
          <p:cNvSpPr/>
          <p:nvPr/>
        </p:nvSpPr>
        <p:spPr>
          <a:xfrm>
            <a:off x="411480" y="2560320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Key Feature Categories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11480" y="3108960"/>
            <a:ext cx="3803904" cy="1536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</a:rPr>
              <a:t>• External Risk Score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</a:rPr>
              <a:t>  Credit bureau composite risk estimate
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</a:rPr>
              <a:t>• Delinquency History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</a:rPr>
              <a:t>  Months since last delinquency, count of trades
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</a:rPr>
              <a:t>• Credit Utilization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</a:rPr>
              <a:t>  Net fraction revolving burden, installment burden
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</a:rPr>
              <a:t>• Credit Inquiries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</a:rPr>
              <a:t>  Number of inquiries last 6 months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663440" y="2560320"/>
            <a:ext cx="4114800" cy="2331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63440" y="2417826"/>
            <a:ext cx="4069080" cy="475488"/>
          </a:xfrm>
          <a:prstGeom prst="rect">
            <a:avLst/>
          </a:prstGeom>
          <a:solidFill>
            <a:srgbClr val="1B3F8B"/>
          </a:solidFill>
          <a:ln/>
        </p:spPr>
      </p:sp>
      <p:sp>
        <p:nvSpPr>
          <p:cNvPr id="23" name="Text 21"/>
          <p:cNvSpPr/>
          <p:nvPr/>
        </p:nvSpPr>
        <p:spPr>
          <a:xfrm>
            <a:off x="4800600" y="2560320"/>
            <a:ext cx="3886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Target Variable Distribution</a:t>
            </a:r>
            <a:endParaRPr lang="en-US" sz="1400" dirty="0"/>
          </a:p>
        </p:txBody>
      </p:sp>
      <p:graphicFrame>
        <p:nvGraphicFramePr>
          <p:cNvPr id="24" name="Chart 0"/>
          <p:cNvGraphicFramePr/>
          <p:nvPr/>
        </p:nvGraphicFramePr>
        <p:xfrm>
          <a:off x="4754880" y="3063240"/>
          <a:ext cx="3977640" cy="1783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5" name="Shape 2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26" name="Text 23"/>
          <p:cNvSpPr/>
          <p:nvPr/>
        </p:nvSpPr>
        <p:spPr>
          <a:xfrm>
            <a:off x="365760" y="4773168"/>
            <a:ext cx="8412480" cy="3520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8D9F0"/>
                </a:solidFill>
              </a:rPr>
              <a:t>Near-balanced classes (51.2% vs 48.8%) — no oversampling required; models trained on 80/20 train-test split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64008"/>
          </a:xfrm>
          <a:prstGeom prst="rect">
            <a:avLst/>
          </a:prstGeom>
          <a:solidFill>
            <a:srgbClr val="F5B8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EXPLORATORY DATA ANALYSIS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170432"/>
            <a:ext cx="4114800" cy="2377440"/>
          </a:xfrm>
          <a:prstGeom prst="rect">
            <a:avLst/>
          </a:prstGeom>
          <a:solidFill>
            <a:srgbClr val="F7F9FC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207008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</a:rPr>
              <a:t>External Risk Score by Class</a:t>
            </a:r>
            <a:endParaRPr lang="en-US" sz="13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274320" y="1554480"/>
          <a:ext cx="4114800" cy="1920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Shape 5"/>
          <p:cNvSpPr/>
          <p:nvPr/>
        </p:nvSpPr>
        <p:spPr>
          <a:xfrm>
            <a:off x="4754880" y="1170432"/>
            <a:ext cx="4114800" cy="2377440"/>
          </a:xfrm>
          <a:prstGeom prst="rect">
            <a:avLst/>
          </a:prstGeom>
          <a:solidFill>
            <a:srgbClr val="F7F9FC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4846320" y="1207008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</a:rPr>
              <a:t>Credit Inquiries (Last 6 Months)</a:t>
            </a:r>
            <a:endParaRPr lang="en-US" sz="1300" dirty="0"/>
          </a:p>
        </p:txBody>
      </p:sp>
      <p:graphicFrame>
        <p:nvGraphicFramePr>
          <p:cNvPr id="10" name="Chart 1"/>
          <p:cNvGraphicFramePr/>
          <p:nvPr/>
        </p:nvGraphicFramePr>
        <p:xfrm>
          <a:off x="4754880" y="1554480"/>
          <a:ext cx="4114800" cy="1920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1" name="Shape 7"/>
          <p:cNvSpPr/>
          <p:nvPr/>
        </p:nvSpPr>
        <p:spPr>
          <a:xfrm>
            <a:off x="274320" y="3730752"/>
            <a:ext cx="8595360" cy="1188720"/>
          </a:xfrm>
          <a:prstGeom prst="rect">
            <a:avLst/>
          </a:prstGeom>
          <a:solidFill>
            <a:srgbClr val="0D1B3E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457200" y="374904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B800"/>
                </a:solidFill>
              </a:rPr>
              <a:t>Key EDA Findings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57200" y="4114800"/>
            <a:ext cx="84124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8D9F0"/>
                </a:solidFill>
              </a:rPr>
              <a:t>✦ ExternalRiskEstimate strongly separates good vs bad applicants — higher scores = lower default risk
✦ More credit inquiries = higher default probability; Good applicants cluster near 0 inquiries
✦ Special value -9 used as "No Bureau Record" — treated as missing and imputed during preprocessing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64008"/>
          </a:xfrm>
          <a:prstGeom prst="rect">
            <a:avLst/>
          </a:prstGeom>
          <a:solidFill>
            <a:srgbClr val="F5B8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DATA PREPROCESSING PIPELINE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170432"/>
            <a:ext cx="8595360" cy="66751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70432"/>
            <a:ext cx="502920" cy="667512"/>
          </a:xfrm>
          <a:prstGeom prst="rect">
            <a:avLst/>
          </a:prstGeom>
          <a:solidFill>
            <a:srgbClr val="F5B800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1170432"/>
            <a:ext cx="50292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1225296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D1B3E"/>
                </a:solidFill>
              </a:rPr>
              <a:t>Missing Value Handling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914400" y="1517904"/>
            <a:ext cx="7818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</a:rPr>
              <a:t>Special code -9 (No Bureau Record) replaced with NaN → imputed with median per feature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74320" y="1920240"/>
            <a:ext cx="8595360" cy="66751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1920240"/>
            <a:ext cx="502920" cy="667512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12" name="Text 10"/>
          <p:cNvSpPr/>
          <p:nvPr/>
        </p:nvSpPr>
        <p:spPr>
          <a:xfrm>
            <a:off x="274320" y="1920240"/>
            <a:ext cx="50292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14400" y="197510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D1B3E"/>
                </a:solidFill>
              </a:rPr>
              <a:t>Target Encoding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914400" y="2267712"/>
            <a:ext cx="7818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</a:rPr>
              <a:t>RiskPerformance: "Bad" → 1 (default), "Good" → 0 (no default)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274320" y="2670048"/>
            <a:ext cx="8595360" cy="66751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2670048"/>
            <a:ext cx="502920" cy="66751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7" name="Text 15"/>
          <p:cNvSpPr/>
          <p:nvPr/>
        </p:nvSpPr>
        <p:spPr>
          <a:xfrm>
            <a:off x="274320" y="2670048"/>
            <a:ext cx="50292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14400" y="272491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D1B3E"/>
                </a:solidFill>
              </a:rPr>
              <a:t>Feature Scaling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914400" y="3017520"/>
            <a:ext cx="7818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</a:rPr>
              <a:t>All 23 features standardized (mean=0, std=1) for GLM and Neural Network stability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274320" y="3419856"/>
            <a:ext cx="8595360" cy="66751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3419856"/>
            <a:ext cx="502920" cy="66751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2" name="Text 20"/>
          <p:cNvSpPr/>
          <p:nvPr/>
        </p:nvSpPr>
        <p:spPr>
          <a:xfrm>
            <a:off x="274320" y="3419856"/>
            <a:ext cx="50292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14400" y="34747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D1B3E"/>
                </a:solidFill>
              </a:rPr>
              <a:t>Train / Test Split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914400" y="3767328"/>
            <a:ext cx="7818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</a:rPr>
              <a:t>80% training (8,367 rows) / 20% holdout test (2,092 rows) — stratified by target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274320" y="4169664"/>
            <a:ext cx="8595360" cy="66751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74320" y="4169664"/>
            <a:ext cx="502920" cy="667512"/>
          </a:xfrm>
          <a:prstGeom prst="rect">
            <a:avLst/>
          </a:prstGeom>
          <a:solidFill>
            <a:srgbClr val="1B3F8B"/>
          </a:solidFill>
          <a:ln/>
        </p:spPr>
      </p:sp>
      <p:sp>
        <p:nvSpPr>
          <p:cNvPr id="27" name="Text 25"/>
          <p:cNvSpPr/>
          <p:nvPr/>
        </p:nvSpPr>
        <p:spPr>
          <a:xfrm>
            <a:off x="274320" y="4169664"/>
            <a:ext cx="50292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05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914400" y="422452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D1B3E"/>
                </a:solidFill>
              </a:rPr>
              <a:t>Output Artifacts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914400" y="4517136"/>
            <a:ext cx="7818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</a:rPr>
              <a:t>X_train.csv, X_test.csv, y_train.csv, y_test.csv saved for reproducible model fitting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448056" y="1837944"/>
            <a:ext cx="155448" cy="109728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31" name="Shape 29"/>
          <p:cNvSpPr/>
          <p:nvPr/>
        </p:nvSpPr>
        <p:spPr>
          <a:xfrm>
            <a:off x="448056" y="2587752"/>
            <a:ext cx="155448" cy="109728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32" name="Shape 30"/>
          <p:cNvSpPr/>
          <p:nvPr/>
        </p:nvSpPr>
        <p:spPr>
          <a:xfrm>
            <a:off x="448056" y="3337560"/>
            <a:ext cx="155448" cy="109728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33" name="Shape 31"/>
          <p:cNvSpPr/>
          <p:nvPr/>
        </p:nvSpPr>
        <p:spPr>
          <a:xfrm>
            <a:off x="448056" y="4087368"/>
            <a:ext cx="155448" cy="109728"/>
          </a:xfrm>
          <a:prstGeom prst="rect">
            <a:avLst/>
          </a:prstGeom>
          <a:solidFill>
            <a:srgbClr val="CBD5E1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3F8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64008"/>
          </a:xfrm>
          <a:prstGeom prst="rect">
            <a:avLst/>
          </a:prstGeom>
          <a:solidFill>
            <a:srgbClr val="F5B8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MODEL 1 — LOGISTIC REGRESSION (GLM)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170432"/>
            <a:ext cx="2606040" cy="914400"/>
          </a:xfrm>
          <a:prstGeom prst="rect">
            <a:avLst/>
          </a:prstGeom>
          <a:solidFill>
            <a:srgbClr val="0D1B3E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1216152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5B800"/>
                </a:solidFill>
              </a:rPr>
              <a:t>0.7901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320040" y="1719072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8D9F0"/>
                </a:solidFill>
              </a:rPr>
              <a:t>AUC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0" y="1170432"/>
            <a:ext cx="2606040" cy="914400"/>
          </a:xfrm>
          <a:prstGeom prst="rect">
            <a:avLst/>
          </a:prstGeom>
          <a:solidFill>
            <a:srgbClr val="0D1B3E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00400" y="1216152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5B800"/>
                </a:solidFill>
              </a:rPr>
              <a:t>0.5534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200400" y="1719072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8D9F0"/>
                </a:solidFill>
              </a:rPr>
              <a:t>Log-Loss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080760" y="1170432"/>
            <a:ext cx="2606040" cy="914400"/>
          </a:xfrm>
          <a:prstGeom prst="rect">
            <a:avLst/>
          </a:prstGeom>
          <a:solidFill>
            <a:srgbClr val="0D1B3E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080760" y="1216152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5B800"/>
                </a:solidFill>
              </a:rPr>
              <a:t>★★★★★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080760" y="1719072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8D9F0"/>
                </a:solidFill>
              </a:rPr>
              <a:t>Interpretability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74320" y="2267712"/>
            <a:ext cx="3931920" cy="2606040"/>
          </a:xfrm>
          <a:prstGeom prst="rect">
            <a:avLst/>
          </a:prstGeom>
          <a:solidFill>
            <a:srgbClr val="F7F9FC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65760" y="230428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</a:rPr>
              <a:t>ROC Curve</a:t>
            </a:r>
            <a:endParaRPr lang="en-US" sz="1300" dirty="0"/>
          </a:p>
        </p:txBody>
      </p:sp>
      <p:graphicFrame>
        <p:nvGraphicFramePr>
          <p:cNvPr id="16" name="Chart 0"/>
          <p:cNvGraphicFramePr/>
          <p:nvPr/>
        </p:nvGraphicFramePr>
        <p:xfrm>
          <a:off x="274320" y="2651760"/>
          <a:ext cx="3931920" cy="2103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7" name="Shape 14"/>
          <p:cNvSpPr/>
          <p:nvPr/>
        </p:nvSpPr>
        <p:spPr>
          <a:xfrm>
            <a:off x="4434840" y="2267712"/>
            <a:ext cx="4389120" cy="2606040"/>
          </a:xfrm>
          <a:prstGeom prst="rect">
            <a:avLst/>
          </a:prstGeom>
          <a:solidFill>
            <a:srgbClr val="F7F9FC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4526280" y="2304288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</a:rPr>
              <a:t>Top Significant Predictors (Odds Ratios)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4480560" y="2761488"/>
            <a:ext cx="4297680" cy="411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7"/>
          <p:cNvSpPr/>
          <p:nvPr/>
        </p:nvSpPr>
        <p:spPr>
          <a:xfrm>
            <a:off x="4572000" y="2798064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ExternalRiskEstimate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6903720" y="2798064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6A34A"/>
                </a:solidFill>
              </a:rPr>
              <a:t>-2.31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7543800" y="2798064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High score → -41% default odds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4480560" y="3236976"/>
            <a:ext cx="4297680" cy="411480"/>
          </a:xfrm>
          <a:prstGeom prst="rect">
            <a:avLst/>
          </a:prstGeom>
          <a:solidFill>
            <a:srgbClr val="EDF2FA"/>
          </a:solidFill>
          <a:ln/>
        </p:spPr>
      </p:sp>
      <p:sp>
        <p:nvSpPr>
          <p:cNvPr id="24" name="Text 21"/>
          <p:cNvSpPr/>
          <p:nvPr/>
        </p:nvSpPr>
        <p:spPr>
          <a:xfrm>
            <a:off x="4572000" y="3273552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NumInqLast6M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6903720" y="3273552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C2626"/>
                </a:solidFill>
              </a:rPr>
              <a:t>+0.39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7543800" y="3273552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Each inquiry → +48% default odds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4480560" y="3712464"/>
            <a:ext cx="4297680" cy="411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8" name="Text 25"/>
          <p:cNvSpPr/>
          <p:nvPr/>
        </p:nvSpPr>
        <p:spPr>
          <a:xfrm>
            <a:off x="4572000" y="3749040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NetFractionRevolvingBurden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6903720" y="3749040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C2626"/>
                </a:solidFill>
              </a:rPr>
              <a:t>+0.28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7543800" y="3749040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Higher utilization → more risk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4480560" y="4187952"/>
            <a:ext cx="4297680" cy="411480"/>
          </a:xfrm>
          <a:prstGeom prst="rect">
            <a:avLst/>
          </a:prstGeom>
          <a:solidFill>
            <a:srgbClr val="EDF2FA"/>
          </a:solidFill>
          <a:ln/>
        </p:spPr>
      </p:sp>
      <p:sp>
        <p:nvSpPr>
          <p:cNvPr id="32" name="Text 29"/>
          <p:cNvSpPr/>
          <p:nvPr/>
        </p:nvSpPr>
        <p:spPr>
          <a:xfrm>
            <a:off x="4572000" y="4224528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MSinceMostRecentDelq</a:t>
            </a:r>
            <a:endParaRPr lang="en-US" sz="1050" dirty="0"/>
          </a:p>
        </p:txBody>
      </p:sp>
      <p:sp>
        <p:nvSpPr>
          <p:cNvPr id="33" name="Text 30"/>
          <p:cNvSpPr/>
          <p:nvPr/>
        </p:nvSpPr>
        <p:spPr>
          <a:xfrm>
            <a:off x="6903720" y="4224528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6A34A"/>
                </a:solidFill>
              </a:rPr>
              <a:t>-0.22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7543800" y="4224528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Longer since delinquency → safer</a:t>
            </a:r>
            <a:endParaRPr lang="en-US" sz="900" dirty="0"/>
          </a:p>
        </p:txBody>
      </p:sp>
      <p:sp>
        <p:nvSpPr>
          <p:cNvPr id="35" name="Shape 32"/>
          <p:cNvSpPr/>
          <p:nvPr/>
        </p:nvSpPr>
        <p:spPr>
          <a:xfrm>
            <a:off x="4480560" y="4663440"/>
            <a:ext cx="4297680" cy="411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6" name="Text 33"/>
          <p:cNvSpPr/>
          <p:nvPr/>
        </p:nvSpPr>
        <p:spPr>
          <a:xfrm>
            <a:off x="4572000" y="4700016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NumRevolvingTradesWBalance</a:t>
            </a:r>
            <a:endParaRPr lang="en-US" sz="1050" dirty="0"/>
          </a:p>
        </p:txBody>
      </p:sp>
      <p:sp>
        <p:nvSpPr>
          <p:cNvPr id="37" name="Text 34"/>
          <p:cNvSpPr/>
          <p:nvPr/>
        </p:nvSpPr>
        <p:spPr>
          <a:xfrm>
            <a:off x="6903720" y="4700016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C2626"/>
                </a:solidFill>
              </a:rPr>
              <a:t>+0.18</a:t>
            </a:r>
            <a:endParaRPr lang="en-US" sz="1200" dirty="0"/>
          </a:p>
        </p:txBody>
      </p:sp>
      <p:sp>
        <p:nvSpPr>
          <p:cNvPr id="38" name="Text 35"/>
          <p:cNvSpPr/>
          <p:nvPr/>
        </p:nvSpPr>
        <p:spPr>
          <a:xfrm>
            <a:off x="7543800" y="4700016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More active revolving debt → risk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64008"/>
          </a:xfrm>
          <a:prstGeom prst="rect">
            <a:avLst/>
          </a:prstGeom>
          <a:solidFill>
            <a:srgbClr val="F5B8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MODEL 2 — GENERALIZED ADDITIVE MODEL (GAM)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1170432"/>
            <a:ext cx="2606040" cy="914400"/>
          </a:xfrm>
          <a:prstGeom prst="rect">
            <a:avLst/>
          </a:prstGeom>
          <a:solidFill>
            <a:srgbClr val="0D1B3E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1216152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5B800"/>
                </a:solidFill>
              </a:rPr>
              <a:t>0.7864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320040" y="1719072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8D9F0"/>
                </a:solidFill>
              </a:rPr>
              <a:t>AUC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0" y="1170432"/>
            <a:ext cx="2606040" cy="914400"/>
          </a:xfrm>
          <a:prstGeom prst="rect">
            <a:avLst/>
          </a:prstGeom>
          <a:solidFill>
            <a:srgbClr val="0D1B3E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00400" y="1216152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5B800"/>
                </a:solidFill>
              </a:rPr>
              <a:t>0.5594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200400" y="1719072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8D9F0"/>
                </a:solidFill>
              </a:rPr>
              <a:t>Log-Loss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080760" y="1170432"/>
            <a:ext cx="2606040" cy="914400"/>
          </a:xfrm>
          <a:prstGeom prst="rect">
            <a:avLst/>
          </a:prstGeom>
          <a:solidFill>
            <a:srgbClr val="0D1B3E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080760" y="1216152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5B800"/>
                </a:solidFill>
              </a:rPr>
              <a:t>Captured ✓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6080760" y="1719072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8D9F0"/>
                </a:solidFill>
              </a:rPr>
              <a:t>Non-Linearity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74320" y="2267712"/>
            <a:ext cx="3931920" cy="2606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65760" y="230428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</a:rPr>
              <a:t>Partial Dependence: ExternalRiskEstimate</a:t>
            </a:r>
            <a:endParaRPr lang="en-US" sz="1200" dirty="0"/>
          </a:p>
        </p:txBody>
      </p:sp>
      <p:graphicFrame>
        <p:nvGraphicFramePr>
          <p:cNvPr id="16" name="Chart 0"/>
          <p:cNvGraphicFramePr/>
          <p:nvPr/>
        </p:nvGraphicFramePr>
        <p:xfrm>
          <a:off x="274320" y="2670048"/>
          <a:ext cx="3931920" cy="2103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7" name="Shape 14"/>
          <p:cNvSpPr/>
          <p:nvPr/>
        </p:nvSpPr>
        <p:spPr>
          <a:xfrm>
            <a:off x="4434840" y="2267712"/>
            <a:ext cx="4389120" cy="2606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4526280" y="2304288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</a:rPr>
              <a:t>Partial Dependence: NumInqLast6M</a:t>
            </a:r>
            <a:endParaRPr lang="en-US" sz="1200" dirty="0"/>
          </a:p>
        </p:txBody>
      </p:sp>
      <p:graphicFrame>
        <p:nvGraphicFramePr>
          <p:cNvPr id="19" name="Chart 1"/>
          <p:cNvGraphicFramePr/>
          <p:nvPr/>
        </p:nvGraphicFramePr>
        <p:xfrm>
          <a:off x="4434840" y="2670048"/>
          <a:ext cx="4389120" cy="2103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0" name="Shape 1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21" name="Text 17"/>
          <p:cNvSpPr/>
          <p:nvPr/>
        </p:nvSpPr>
        <p:spPr>
          <a:xfrm>
            <a:off x="365760" y="4773168"/>
            <a:ext cx="8412480" cy="3520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8D9F0"/>
                </a:solidFill>
              </a:rPr>
              <a:t>GAM insight: The effect of credit inquiries flattens after ~4 — diminishing marginal signal. ExternalRiskEstimate is monotonically protective.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5A3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64008"/>
          </a:xfrm>
          <a:prstGeom prst="rect">
            <a:avLst/>
          </a:prstGeom>
          <a:solidFill>
            <a:srgbClr val="F5B8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MODEL 3 — QUANTILE REGRESSION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170432"/>
            <a:ext cx="8595360" cy="822960"/>
          </a:xfrm>
          <a:prstGeom prst="rect">
            <a:avLst/>
          </a:prstGeom>
          <a:solidFill>
            <a:srgbClr val="EDF2FA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11480" y="1234440"/>
            <a:ext cx="832104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1B3E"/>
                </a:solidFill>
              </a:rPr>
              <a:t>Purpose: </a:t>
            </a:r>
            <a:r>
              <a:rPr lang="en-US" sz="1250" dirty="0">
                <a:solidFill>
                  <a:srgbClr val="1E293B"/>
                </a:solidFill>
              </a:rPr>
              <a:t>Models ExternalRiskEstimate (credit score) at different quantiles (10th, 50th, 90th percentile). Reveals how predictors affect </a:t>
            </a:r>
            <a:r>
              <a:rPr lang="en-US" sz="1250" b="1" dirty="0">
                <a:solidFill>
                  <a:srgbClr val="2563A8"/>
                </a:solidFill>
              </a:rPr>
              <a:t>low-scoring (high-risk) vs high-scoring (low-risk) applicants differently</a:t>
            </a:r>
            <a:r>
              <a:rPr lang="en-US" sz="1250" dirty="0">
                <a:solidFill>
                  <a:srgbClr val="1E293B"/>
                </a:solidFill>
              </a:rPr>
              <a:t> — enabling risk-stratified pricing.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274320" y="2148840"/>
            <a:ext cx="5303520" cy="2697480"/>
          </a:xfrm>
          <a:prstGeom prst="rect">
            <a:avLst/>
          </a:prstGeom>
          <a:solidFill>
            <a:srgbClr val="F7F9FC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65760" y="2176272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1B3E"/>
                </a:solidFill>
              </a:rPr>
              <a:t>Coefficient Variation by Quantile: Key Features</a:t>
            </a:r>
            <a:endParaRPr lang="en-US" sz="1250" dirty="0"/>
          </a:p>
        </p:txBody>
      </p:sp>
      <p:graphicFrame>
        <p:nvGraphicFramePr>
          <p:cNvPr id="9" name="Chart 0"/>
          <p:cNvGraphicFramePr/>
          <p:nvPr/>
        </p:nvGraphicFramePr>
        <p:xfrm>
          <a:off x="274320" y="2560320"/>
          <a:ext cx="5303520" cy="2194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Shape 7"/>
          <p:cNvSpPr/>
          <p:nvPr/>
        </p:nvSpPr>
        <p:spPr>
          <a:xfrm>
            <a:off x="5806440" y="2148840"/>
            <a:ext cx="3063240" cy="2697480"/>
          </a:xfrm>
          <a:prstGeom prst="rect">
            <a:avLst/>
          </a:prstGeom>
          <a:solidFill>
            <a:srgbClr val="0D1B3E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5943600" y="2240280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B800"/>
                </a:solidFill>
              </a:rPr>
              <a:t>Key Findings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5943600" y="2651760"/>
            <a:ext cx="28346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8D9F0"/>
                </a:solidFill>
              </a:rPr>
              <a:t>📉 Past delinquencies hurt low-score applicants 3.6× more than high-score ones
💳 Revolving burden coefficient is 3× larger at Q10 vs Q90
📊 Risk-based pricing should be steeper for already low-scoring segment
⚠️ Inquiry impact diminishes significantly at high quantiles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4A1D9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64008"/>
          </a:xfrm>
          <a:prstGeom prst="rect">
            <a:avLst/>
          </a:prstGeom>
          <a:solidFill>
            <a:srgbClr val="F5B8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MODEL 4 — NEURAL NETWORK + SHAP INTERPRETABILITY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1170432"/>
            <a:ext cx="2606040" cy="868680"/>
          </a:xfrm>
          <a:prstGeom prst="rect">
            <a:avLst/>
          </a:prstGeom>
          <a:solidFill>
            <a:srgbClr val="4A1D96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1207008"/>
            <a:ext cx="2606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5B800"/>
                </a:solidFill>
              </a:rPr>
              <a:t>0.7900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320040" y="1682496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8D9F0"/>
                </a:solidFill>
              </a:rPr>
              <a:t>AUC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200400" y="1170432"/>
            <a:ext cx="2606040" cy="868680"/>
          </a:xfrm>
          <a:prstGeom prst="rect">
            <a:avLst/>
          </a:prstGeom>
          <a:solidFill>
            <a:srgbClr val="4A1D96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00400" y="1207008"/>
            <a:ext cx="2606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5B800"/>
                </a:solidFill>
              </a:rPr>
              <a:t>0.5532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200400" y="1682496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8D9F0"/>
                </a:solidFill>
              </a:rPr>
              <a:t>Log-Loss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080760" y="1170432"/>
            <a:ext cx="2606040" cy="868680"/>
          </a:xfrm>
          <a:prstGeom prst="rect">
            <a:avLst/>
          </a:prstGeom>
          <a:solidFill>
            <a:srgbClr val="4A1D96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080760" y="1207008"/>
            <a:ext cx="2606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5B800"/>
                </a:solidFill>
              </a:rPr>
              <a:t>2 Hidden Layers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6080760" y="1682496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8D9F0"/>
                </a:solidFill>
              </a:rPr>
              <a:t>Architecture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274320" y="2240280"/>
            <a:ext cx="3657600" cy="2651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65760" y="2267712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</a:rPr>
              <a:t>Network Architecture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11480" y="2724912"/>
            <a:ext cx="3383280" cy="38404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2752344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Input Layer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011680" y="2752344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D9F0"/>
                </a:solidFill>
              </a:rPr>
              <a:t>23 features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11480" y="3172968"/>
            <a:ext cx="3383280" cy="384048"/>
          </a:xfrm>
          <a:prstGeom prst="rect">
            <a:avLst/>
          </a:prstGeom>
          <a:solidFill>
            <a:srgbClr val="1B3F8B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" y="3200400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Hidden Layer 1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011680" y="3200400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D9F0"/>
                </a:solidFill>
              </a:rPr>
              <a:t>64 neurons, ReLU, Dropout 0.3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11480" y="3621024"/>
            <a:ext cx="3383280" cy="384048"/>
          </a:xfrm>
          <a:prstGeom prst="rect">
            <a:avLst/>
          </a:prstGeom>
          <a:solidFill>
            <a:srgbClr val="4A1D96"/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" y="3648456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Hidden Layer 2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011680" y="3648456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D9F0"/>
                </a:solidFill>
              </a:rPr>
              <a:t>32 neurons, ReLU, Dropout 0.3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11480" y="4069080"/>
            <a:ext cx="3383280" cy="384048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26" name="Text 24"/>
          <p:cNvSpPr/>
          <p:nvPr/>
        </p:nvSpPr>
        <p:spPr>
          <a:xfrm>
            <a:off x="502920" y="4096512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Output Layer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011680" y="4096512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D9F0"/>
                </a:solidFill>
              </a:rPr>
              <a:t>1 neuron, Sigmoid (0–1)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206240" y="2240280"/>
            <a:ext cx="4663440" cy="2651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297680" y="2267712"/>
            <a:ext cx="4480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1B3E"/>
                </a:solidFill>
              </a:rPr>
              <a:t>SHAP Feature Importance (Neural Network)</a:t>
            </a:r>
            <a:endParaRPr lang="en-US" sz="1250" dirty="0"/>
          </a:p>
        </p:txBody>
      </p:sp>
      <p:graphicFrame>
        <p:nvGraphicFramePr>
          <p:cNvPr id="30" name="Chart 0"/>
          <p:cNvGraphicFramePr/>
          <p:nvPr/>
        </p:nvGraphicFramePr>
        <p:xfrm>
          <a:off x="4206240" y="2633472"/>
          <a:ext cx="4663440" cy="2148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1" name="Shape 28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4A1D96"/>
          </a:solidFill>
          <a:ln/>
        </p:spPr>
      </p:sp>
      <p:sp>
        <p:nvSpPr>
          <p:cNvPr id="32" name="Text 29"/>
          <p:cNvSpPr/>
          <p:nvPr/>
        </p:nvSpPr>
        <p:spPr>
          <a:xfrm>
            <a:off x="365760" y="4773168"/>
            <a:ext cx="8412480" cy="3520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8D9F0"/>
                </a:solidFill>
              </a:rPr>
              <a:t>SHAP confirms GLM findings — ExternalRiskEstimate dominates. Neural Network is used as a "second look" tool for borderline applications.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64008"/>
          </a:xfrm>
          <a:prstGeom prst="rect">
            <a:avLst/>
          </a:prstGeom>
          <a:solidFill>
            <a:srgbClr val="F5B8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MODEL COMPARISON &amp; RESULTS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170432"/>
            <a:ext cx="5029200" cy="2606040"/>
          </a:xfrm>
          <a:prstGeom prst="rect">
            <a:avLst/>
          </a:prstGeom>
          <a:solidFill>
            <a:srgbClr val="F7F9FC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207008"/>
            <a:ext cx="4846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3E"/>
                </a:solidFill>
              </a:rPr>
              <a:t>AUC Comparison</a:t>
            </a:r>
            <a:endParaRPr lang="en-US" sz="14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274320" y="1581912"/>
          <a:ext cx="5029200" cy="2103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Shape 5"/>
          <p:cNvSpPr/>
          <p:nvPr/>
        </p:nvSpPr>
        <p:spPr>
          <a:xfrm>
            <a:off x="5486400" y="1170432"/>
            <a:ext cx="3383280" cy="2606040"/>
          </a:xfrm>
          <a:prstGeom prst="rect">
            <a:avLst/>
          </a:prstGeom>
          <a:solidFill>
            <a:srgbClr val="F7F9FC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577840" y="1207008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3E"/>
                </a:solidFill>
              </a:rPr>
              <a:t>Log-Loss</a:t>
            </a:r>
            <a:endParaRPr lang="en-US" sz="1400" dirty="0"/>
          </a:p>
        </p:txBody>
      </p:sp>
      <p:graphicFrame>
        <p:nvGraphicFramePr>
          <p:cNvPr id="10" name="Chart 1"/>
          <p:cNvGraphicFramePr/>
          <p:nvPr/>
        </p:nvGraphicFramePr>
        <p:xfrm>
          <a:off x="5486400" y="1581912"/>
          <a:ext cx="3383280" cy="2103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1" name="Shape 7"/>
          <p:cNvSpPr/>
          <p:nvPr/>
        </p:nvSpPr>
        <p:spPr>
          <a:xfrm>
            <a:off x="274320" y="3913632"/>
            <a:ext cx="859536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8115219"/>
              </p:ext>
            </p:extLst>
          </p:nvPr>
        </p:nvGraphicFramePr>
        <p:xfrm>
          <a:off x="274320" y="3776472"/>
          <a:ext cx="8589263" cy="1257300"/>
        </p:xfrm>
        <a:graphic>
          <a:graphicData uri="http://schemas.openxmlformats.org/drawingml/2006/table">
            <a:tbl>
              <a:tblPr/>
              <a:tblGrid>
                <a:gridCol w="18825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53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353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9428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4166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4231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Model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AUC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Log-Loss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Interpretability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Best Use Case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231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GLM (Logistic)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0.7901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0.5534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★★★★★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Primary scorecard, regulatory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231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GAM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0.7864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0.5594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★★★★☆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Non-linear insight, rating factors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231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Quantile Regression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N/A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N/A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★★★★☆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Risk-based pricing strategy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231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Neural Network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0.7900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0.5532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★★★☆☆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Second-look borderline cases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64008"/>
          </a:xfrm>
          <a:prstGeom prst="rect">
            <a:avLst/>
          </a:prstGeom>
          <a:solidFill>
            <a:srgbClr val="F5B8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CALIBRATION ANALYSIS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170432"/>
            <a:ext cx="5669280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207008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</a:rPr>
              <a:t>Calibration Curves — Predicted vs Actual Default Rate</a:t>
            </a:r>
            <a:endParaRPr lang="en-US" sz="13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274320" y="1581912"/>
          <a:ext cx="5669280" cy="3154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Shape 5"/>
          <p:cNvSpPr/>
          <p:nvPr/>
        </p:nvSpPr>
        <p:spPr>
          <a:xfrm>
            <a:off x="6172200" y="1170432"/>
            <a:ext cx="2697480" cy="3657600"/>
          </a:xfrm>
          <a:prstGeom prst="rect">
            <a:avLst/>
          </a:prstGeom>
          <a:solidFill>
            <a:srgbClr val="0D1B3E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309360" y="128016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B800"/>
                </a:solidFill>
              </a:rPr>
              <a:t>Calibration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F5B800"/>
                </a:solidFill>
              </a:rPr>
              <a:t>Takeaways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309360" y="1993392"/>
            <a:ext cx="2468880" cy="2697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D9F0"/>
                </a:solidFill>
              </a:rPr>
              <a:t>✅ All three models closely track the perfect calibration line
✅ No systematic over- or under-prediction
✅ GLM and Neural Net are nearly identical in calibration quality
⚡ Well-calibrated probabilities are essential for proper risk pricing and regulatory acceptance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64008"/>
          </a:xfrm>
          <a:prstGeom prst="rect">
            <a:avLst/>
          </a:prstGeom>
          <a:solidFill>
            <a:srgbClr val="F5B8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BUSINESS INSIGHTS &amp; RECOMMENDATIONS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1170432"/>
            <a:ext cx="4251960" cy="1170432"/>
          </a:xfrm>
          <a:prstGeom prst="rect">
            <a:avLst/>
          </a:prstGeom>
          <a:solidFill>
            <a:srgbClr val="F7F9FC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70432"/>
            <a:ext cx="73152" cy="117043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438912" y="1261872"/>
            <a:ext cx="4005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</a:rPr>
              <a:t>🏦  Credit Score = #1 Predictor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38912" y="1609344"/>
            <a:ext cx="400507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A 10-point increase in ExternalRiskEstimate reduces default odds by 41%. Lenders should weight this heavily in approval decisions.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170432"/>
            <a:ext cx="4251960" cy="1170432"/>
          </a:xfrm>
          <a:prstGeom prst="rect">
            <a:avLst/>
          </a:prstGeom>
          <a:solidFill>
            <a:srgbClr val="F7F9FC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170432"/>
            <a:ext cx="73152" cy="117043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1" name="Text 9"/>
          <p:cNvSpPr/>
          <p:nvPr/>
        </p:nvSpPr>
        <p:spPr>
          <a:xfrm>
            <a:off x="4919472" y="1261872"/>
            <a:ext cx="4005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C2626"/>
                </a:solidFill>
              </a:rPr>
              <a:t>🔍  Inquiry Spike is a Red Flag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919472" y="1609344"/>
            <a:ext cx="400507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Each additional credit inquiry in 6 months increases default odds by 48%. GAM reveals the effect flattens after ~4 inquiries.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2468880"/>
            <a:ext cx="4251960" cy="1170432"/>
          </a:xfrm>
          <a:prstGeom prst="rect">
            <a:avLst/>
          </a:prstGeom>
          <a:solidFill>
            <a:srgbClr val="F7F9FC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2468880"/>
            <a:ext cx="73152" cy="1170432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5" name="Text 13"/>
          <p:cNvSpPr/>
          <p:nvPr/>
        </p:nvSpPr>
        <p:spPr>
          <a:xfrm>
            <a:off x="438912" y="2560320"/>
            <a:ext cx="4005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45309"/>
                </a:solidFill>
              </a:rPr>
              <a:t>💳  Revolving Burden Matters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38912" y="2907792"/>
            <a:ext cx="400507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High net fraction revolving burden consistently elevates risk across all models. Flag applicants above 60% utilization.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54880" y="2468880"/>
            <a:ext cx="4251960" cy="1170432"/>
          </a:xfrm>
          <a:prstGeom prst="rect">
            <a:avLst/>
          </a:prstGeom>
          <a:solidFill>
            <a:srgbClr val="F7F9FC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2468880"/>
            <a:ext cx="73152" cy="1170432"/>
          </a:xfrm>
          <a:prstGeom prst="rect">
            <a:avLst/>
          </a:prstGeom>
          <a:solidFill>
            <a:srgbClr val="4A1D96"/>
          </a:solidFill>
          <a:ln/>
        </p:spPr>
      </p:sp>
      <p:sp>
        <p:nvSpPr>
          <p:cNvPr id="19" name="Text 17"/>
          <p:cNvSpPr/>
          <p:nvPr/>
        </p:nvSpPr>
        <p:spPr>
          <a:xfrm>
            <a:off x="4919472" y="2560320"/>
            <a:ext cx="4005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A1D96"/>
                </a:solidFill>
              </a:rPr>
              <a:t>📉  Risk-Based Pricing Strategy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919472" y="2907792"/>
            <a:ext cx="400507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Quantile regression shows low-score applicants are 3.6× more sensitive to delinquency history — apply steeper rate premiums in this segment.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74320" y="3767328"/>
            <a:ext cx="4251960" cy="1170432"/>
          </a:xfrm>
          <a:prstGeom prst="rect">
            <a:avLst/>
          </a:prstGeom>
          <a:solidFill>
            <a:srgbClr val="F7F9FC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" y="3767328"/>
            <a:ext cx="73152" cy="117043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3" name="Text 21"/>
          <p:cNvSpPr/>
          <p:nvPr/>
        </p:nvSpPr>
        <p:spPr>
          <a:xfrm>
            <a:off x="438912" y="3858768"/>
            <a:ext cx="4005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A34A"/>
                </a:solidFill>
              </a:rPr>
              <a:t>📋  GLM as Primary Scorecard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38912" y="4206240"/>
            <a:ext cx="400507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Logistic regression offers full transparency (p-values, odds ratios) critical for FCRA/ECOA regulatory compliance and adverse action notices.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54880" y="3767328"/>
            <a:ext cx="4251960" cy="1170432"/>
          </a:xfrm>
          <a:prstGeom prst="rect">
            <a:avLst/>
          </a:prstGeom>
          <a:solidFill>
            <a:srgbClr val="F7F9FC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54880" y="3767328"/>
            <a:ext cx="73152" cy="1170432"/>
          </a:xfrm>
          <a:prstGeom prst="rect">
            <a:avLst/>
          </a:prstGeom>
          <a:solidFill>
            <a:srgbClr val="9333EA"/>
          </a:solidFill>
          <a:ln/>
        </p:spPr>
      </p:sp>
      <p:sp>
        <p:nvSpPr>
          <p:cNvPr id="27" name="Text 25"/>
          <p:cNvSpPr/>
          <p:nvPr/>
        </p:nvSpPr>
        <p:spPr>
          <a:xfrm>
            <a:off x="4919472" y="3858768"/>
            <a:ext cx="4005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333EA"/>
                </a:solidFill>
              </a:rPr>
              <a:t>🧠  Neural Net as Second Look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919472" y="4206240"/>
            <a:ext cx="400507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Use Neural Network for borderline applicants (predicted probability 0.45–0.55) where interpretable models are uncertain.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F5B800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0" y="457200"/>
            <a:ext cx="5486400" cy="5486400"/>
          </a:xfrm>
          <a:prstGeom prst="ellipse">
            <a:avLst/>
          </a:prstGeom>
          <a:solidFill>
            <a:srgbClr val="1B3F8B">
              <a:alpha val="25000"/>
            </a:srgbClr>
          </a:solidFill>
          <a:ln w="12700">
            <a:solidFill>
              <a:srgbClr val="1B3F8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45720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F5B800"/>
                </a:solidFill>
              </a:rPr>
              <a:t>CONCLUSIONS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85800" y="960120"/>
            <a:ext cx="6858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Built &amp;</a:t>
            </a:r>
            <a:endParaRPr lang="en-US" sz="4400" dirty="0"/>
          </a:p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Learned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685800" y="2441448"/>
            <a:ext cx="292608" cy="292608"/>
          </a:xfrm>
          <a:prstGeom prst="rect">
            <a:avLst/>
          </a:prstGeom>
          <a:solidFill>
            <a:srgbClr val="F5B800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24414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3E"/>
                </a:solidFill>
              </a:rPr>
              <a:t>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97280" y="2395728"/>
            <a:ext cx="7132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8D9F0"/>
                </a:solidFill>
              </a:rPr>
              <a:t>Four complementary models built on 10,459 FICO HELOC applications — all achieving AUC ≈ 0.79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85800" y="2898648"/>
            <a:ext cx="292608" cy="292608"/>
          </a:xfrm>
          <a:prstGeom prst="rect">
            <a:avLst/>
          </a:prstGeom>
          <a:solidFill>
            <a:srgbClr val="F5B800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28986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3E"/>
                </a:solidFill>
              </a:rPr>
              <a:t>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97280" y="2852928"/>
            <a:ext cx="7132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8D9F0"/>
                </a:solidFill>
              </a:rPr>
              <a:t>ExternalRiskEstimate is the dominant predictor across every model — confirming the primacy of credit bureau data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85800" y="3355848"/>
            <a:ext cx="292608" cy="292608"/>
          </a:xfrm>
          <a:prstGeom prst="rect">
            <a:avLst/>
          </a:prstGeom>
          <a:solidFill>
            <a:srgbClr val="F5B800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33558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3E"/>
                </a:solidFill>
              </a:rPr>
              <a:t>3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97280" y="3310128"/>
            <a:ext cx="7132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8D9F0"/>
                </a:solidFill>
              </a:rPr>
              <a:t>GLM provides the ideal regulatory scorecard; GAM adds nonlinear insight; NN validates findings through SHAP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85800" y="3813048"/>
            <a:ext cx="292608" cy="292608"/>
          </a:xfrm>
          <a:prstGeom prst="rect">
            <a:avLst/>
          </a:prstGeom>
          <a:solidFill>
            <a:srgbClr val="F5B800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38130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3E"/>
                </a:solidFill>
              </a:rPr>
              <a:t>4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097280" y="3767328"/>
            <a:ext cx="7132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8D9F0"/>
                </a:solidFill>
              </a:rPr>
              <a:t>Quantile regression uniquely reveals heterogeneous risk effects — informing risk-based pricing strategy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85800" y="4270248"/>
            <a:ext cx="292608" cy="292608"/>
          </a:xfrm>
          <a:prstGeom prst="rect">
            <a:avLst/>
          </a:prstGeom>
          <a:solidFill>
            <a:srgbClr val="F5B800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" y="42702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3E"/>
                </a:solidFill>
              </a:rPr>
              <a:t>5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097280" y="4224528"/>
            <a:ext cx="7132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8D9F0"/>
                </a:solidFill>
              </a:rPr>
              <a:t>All models are well-calibrated — predicted probabilities can be used directly for expected loss estimation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11480" y="4736592"/>
            <a:ext cx="8732520" cy="406908"/>
          </a:xfrm>
          <a:prstGeom prst="rect">
            <a:avLst/>
          </a:prstGeom>
          <a:solidFill>
            <a:srgbClr val="F5B800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4745736"/>
            <a:ext cx="850392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3E"/>
                </a:solidFill>
              </a:rPr>
              <a:t>Thank You  •  Questions Welcome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1196</Words>
  <Application>Microsoft Office PowerPoint</Application>
  <PresentationFormat>On-screen Show (16:9)</PresentationFormat>
  <Paragraphs>224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HELOC Credit Risk Modeling</dc:title>
  <dc:subject>PptxGenJS Presentation</dc:subject>
  <dc:creator>Venkata Sai Prasad Kancharana</dc:creator>
  <cp:lastModifiedBy>Sai KV</cp:lastModifiedBy>
  <cp:revision>4</cp:revision>
  <dcterms:created xsi:type="dcterms:W3CDTF">2026-03-31T01:21:38Z</dcterms:created>
  <dcterms:modified xsi:type="dcterms:W3CDTF">2026-03-31T01:29:21Z</dcterms:modified>
</cp:coreProperties>
</file>